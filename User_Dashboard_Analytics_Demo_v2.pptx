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mbria"/>
              </a:rPr>
              <a:t>User Dashboard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Calibri"/>
              </a:rPr>
              <a:t>Feature demo -- Blog Management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September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162B"/>
                </a:solidFill>
                <a:latin typeface="Cambria"/>
              </a:rPr>
              <a:t>GET /dashboard/me: authenticated, executed live in Swagger</a:t>
            </a:r>
          </a:p>
        </p:txBody>
      </p:sp>
      <p:pic>
        <p:nvPicPr>
          <p:cNvPr id="3" name="Picture 2" descr="1_swagger_dashboard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501" y="1234440"/>
            <a:ext cx="3392518" cy="5074920"/>
          </a:xfrm>
          <a:prstGeom prst="rect">
            <a:avLst/>
          </a:prstGeom>
          <a:ln w="12700">
            <a:solidFill>
              <a:srgbClr val="E3E7F3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162B"/>
                </a:solidFill>
                <a:latin typeface="Cambria"/>
              </a:rPr>
              <a:t>The rendered dashboard: real cards, real charts</a:t>
            </a:r>
          </a:p>
        </p:txBody>
      </p:sp>
      <p:pic>
        <p:nvPicPr>
          <p:cNvPr id="3" name="Picture 2" descr="2b_dashboard_full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867" y="1234440"/>
            <a:ext cx="6837786" cy="5074920"/>
          </a:xfrm>
          <a:prstGeom prst="rect">
            <a:avLst/>
          </a:prstGeom>
          <a:ln w="12700">
            <a:solidFill>
              <a:srgbClr val="E3E7F3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162B"/>
                </a:solidFill>
                <a:latin typeface="Cambria"/>
              </a:rPr>
              <a:t>Summary cards, close up: posts, comments, likes, views</a:t>
            </a:r>
          </a:p>
        </p:txBody>
      </p:sp>
      <p:pic>
        <p:nvPicPr>
          <p:cNvPr id="3" name="Picture 2" descr="2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86256"/>
            <a:ext cx="11064240" cy="971288"/>
          </a:xfrm>
          <a:prstGeom prst="rect">
            <a:avLst/>
          </a:prstGeom>
          <a:ln w="12700">
            <a:solidFill>
              <a:srgbClr val="E3E7F3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162B"/>
                </a:solidFill>
                <a:latin typeface="Cambria"/>
              </a:rPr>
              <a:t>Likes vs. comments per post, as a labeled bar chart</a:t>
            </a:r>
          </a:p>
        </p:txBody>
      </p:sp>
      <p:pic>
        <p:nvPicPr>
          <p:cNvPr id="3" name="Picture 2" descr="3_likes_comment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29916"/>
            <a:ext cx="11064240" cy="3483968"/>
          </a:xfrm>
          <a:prstGeom prst="rect">
            <a:avLst/>
          </a:prstGeom>
          <a:ln w="12700">
            <a:solidFill>
              <a:srgbClr val="E3E7F3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162B"/>
                </a:solidFill>
                <a:latin typeface="Cambria"/>
              </a:rPr>
              <a:t>Post activity over time, as a line chart</a:t>
            </a:r>
          </a:p>
        </p:txBody>
      </p:sp>
      <p:pic>
        <p:nvPicPr>
          <p:cNvPr id="3" name="Picture 2" descr="4_activit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095" y="1234440"/>
            <a:ext cx="7935329" cy="5074920"/>
          </a:xfrm>
          <a:prstGeom prst="rect">
            <a:avLst/>
          </a:prstGeom>
          <a:ln w="12700">
            <a:solidFill>
              <a:srgbClr val="E3E7F3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162B"/>
                </a:solidFill>
                <a:latin typeface="Cambria"/>
              </a:rPr>
              <a:t>User isolation: a different account sees only its own data</a:t>
            </a:r>
          </a:p>
        </p:txBody>
      </p:sp>
      <p:pic>
        <p:nvPicPr>
          <p:cNvPr id="3" name="Picture 2" descr="5_user_isolation_b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273" y="1234440"/>
            <a:ext cx="6344973" cy="4709160"/>
          </a:xfrm>
          <a:prstGeom prst="rect">
            <a:avLst/>
          </a:prstGeom>
          <a:ln w="12700">
            <a:solidFill>
              <a:srgbClr val="E3E7F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38A"/>
                </a:solidFill>
                <a:latin typeface="Calibri"/>
              </a:rPr>
              <a:t>Compare to Slide 3 -- different totals, different posts, zero overlap.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162B"/>
                </a:solidFill>
                <a:latin typeface="Cambria"/>
              </a:rPr>
              <a:t>Confirmed live: comments received now display correctly for James</a:t>
            </a:r>
          </a:p>
        </p:txBody>
      </p:sp>
      <p:pic>
        <p:nvPicPr>
          <p:cNvPr id="3" name="Picture 2" descr="Screenshot (37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840" y="1234440"/>
            <a:ext cx="8371839" cy="4709160"/>
          </a:xfrm>
          <a:prstGeom prst="rect">
            <a:avLst/>
          </a:prstGeom>
          <a:ln w="12700">
            <a:solidFill>
              <a:srgbClr val="E3E7F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38A"/>
                </a:solidFill>
                <a:latin typeface="Calibri"/>
              </a:rPr>
              <a:t>Captured directly from the browser during manual testing, after the total_comments_received fix.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Verified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887" y="356616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CADCFC"/>
                </a:solidFill>
                <a:latin typeface="Cambria"/>
              </a:rPr>
              <a:t>504 / 504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887" y="43891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tests passing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49927" y="356616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CADCFC"/>
                </a:solidFill>
                <a:latin typeface="Cambria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9927" y="43891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cross-user data leaks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8967" y="356616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CADCFC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8967" y="43891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query per dashboard 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